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8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A1827"/>
          </a:solidFill>
          <a:ln w="12700">
            <a:solidFill>
              <a:srgbClr val="0A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OPERATING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8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TIXR SCOUT |  MARCH 2026  |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28016" y="429768"/>
            <a:ext cx="45720" cy="1554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0312" y="429768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8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 |  OWNERSHIP MATRIX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28016" y="621792"/>
            <a:ext cx="4983480" cy="2286000"/>
          </a:xfrm>
          <a:prstGeom prst="rect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" y="658368"/>
          <a:ext cx="4946904" cy="2112264"/>
        </p:xfrm>
        <a:graphic>
          <a:graphicData uri="http://schemas.openxmlformats.org/drawingml/2006/table">
            <a:tbl>
              <a:tblPr/>
              <a:tblGrid>
                <a:gridCol w="229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E2EAF6"/>
                          </a:solidFill>
                        </a:rPr>
                        <a:t>TASK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00C896"/>
                          </a:solidFill>
                        </a:rPr>
                        <a:t>ENG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00C896"/>
                          </a:solidFill>
                        </a:rPr>
                        <a:t>CS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00C896"/>
                          </a:solidFill>
                        </a:rPr>
                        <a:t>OPS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00C896"/>
                          </a:solidFill>
                        </a:rPr>
                        <a:t>DATA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00C896"/>
                          </a:solidFill>
                        </a:rPr>
                        <a:t>SALES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80" dirty="0">
                          <a:solidFill>
                            <a:srgbClr val="E2EAF6"/>
                          </a:solidFill>
                        </a:rPr>
                        <a:t>Market selection (SCOUT Opp. Score)</a:t>
                      </a:r>
                      <a:endParaRPr lang="en-US" sz="68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4A6B"/>
                          </a:solidFill>
                        </a:rPr>
                        <a:t>I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4A6B"/>
                          </a:solidFill>
                        </a:rPr>
                        <a:t>I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6B35"/>
                          </a:solidFill>
                        </a:rPr>
                        <a:t>A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C896"/>
                          </a:solidFill>
                        </a:rPr>
                        <a:t>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8BAE"/>
                          </a:solidFill>
                        </a:rPr>
                        <a:t>C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80" dirty="0">
                          <a:solidFill>
                            <a:srgbClr val="E2EAF6"/>
                          </a:solidFill>
                        </a:rPr>
                        <a:t>Venue BD (Ziggo Dome, Swiss Life…)</a:t>
                      </a:r>
                      <a:endParaRPr lang="en-US" sz="68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4A6B"/>
                          </a:solidFill>
                        </a:rPr>
                        <a:t>I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4A6B"/>
                          </a:solidFill>
                        </a:rPr>
                        <a:t>I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8BAE"/>
                          </a:solidFill>
                        </a:rPr>
                        <a:t>C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8BAE"/>
                          </a:solidFill>
                        </a:rPr>
                        <a:t>C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6B35"/>
                          </a:solidFill>
                        </a:rPr>
                        <a:t>A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80" dirty="0">
                          <a:solidFill>
                            <a:srgbClr val="E2EAF6"/>
                          </a:solidFill>
                        </a:rPr>
                        <a:t>Payment integration (iDEAL/SEPA/BPAY)</a:t>
                      </a:r>
                      <a:endParaRPr lang="en-US" sz="68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6B35"/>
                          </a:solidFill>
                        </a:rPr>
                        <a:t>A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8BAE"/>
                          </a:solidFill>
                        </a:rPr>
                        <a:t>C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C896"/>
                          </a:solidFill>
                        </a:rPr>
                        <a:t>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4A6B"/>
                          </a:solidFill>
                        </a:rPr>
                        <a:t>I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4A6B"/>
                          </a:solidFill>
                        </a:rPr>
                        <a:t>I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80" dirty="0">
                          <a:solidFill>
                            <a:srgbClr val="E2EAF6"/>
                          </a:solidFill>
                        </a:rPr>
                        <a:t>Partner onboarding (30-day SLA)</a:t>
                      </a:r>
                      <a:endParaRPr lang="en-US" sz="68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8BAE"/>
                          </a:solidFill>
                        </a:rPr>
                        <a:t>C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6B35"/>
                          </a:solidFill>
                        </a:rPr>
                        <a:t>A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C896"/>
                          </a:solidFill>
                        </a:rPr>
                        <a:t>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4A6B"/>
                          </a:solidFill>
                        </a:rPr>
                        <a:t>I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8BAE"/>
                          </a:solidFill>
                        </a:rPr>
                        <a:t>C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80" dirty="0">
                          <a:solidFill>
                            <a:srgbClr val="E2EAF6"/>
                          </a:solidFill>
                        </a:rPr>
                        <a:t>Follow-the-sun support (SM&gt;LDN&gt;SYD)</a:t>
                      </a:r>
                      <a:endParaRPr lang="en-US" sz="68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8BAE"/>
                          </a:solidFill>
                        </a:rPr>
                        <a:t>C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6B35"/>
                          </a:solidFill>
                        </a:rPr>
                        <a:t>A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C896"/>
                          </a:solidFill>
                        </a:rPr>
                        <a:t>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4A6B"/>
                          </a:solidFill>
                        </a:rPr>
                        <a:t>I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4A6B"/>
                          </a:solidFill>
                        </a:rPr>
                        <a:t>I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80" dirty="0">
                          <a:solidFill>
                            <a:srgbClr val="E2EAF6"/>
                          </a:solidFill>
                        </a:rPr>
                        <a:t>SCOUT pipeline refresh + re-scoring</a:t>
                      </a:r>
                      <a:endParaRPr lang="en-US" sz="68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4A6B"/>
                          </a:solidFill>
                        </a:rPr>
                        <a:t>I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4A6B"/>
                          </a:solidFill>
                        </a:rPr>
                        <a:t>I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4A6B"/>
                          </a:solidFill>
                        </a:rPr>
                        <a:t>I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6B35"/>
                          </a:solidFill>
                        </a:rPr>
                        <a:t>A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C896"/>
                          </a:solidFill>
                        </a:rPr>
                        <a:t>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46304" y="2770632"/>
            <a:ext cx="49469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6B8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Accountable (1 per row)  |  R = Responsible  |  C = Consulted  |  I = Informed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5239512" y="429768"/>
            <a:ext cx="45720" cy="1554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21808" y="429768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8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GAPS  |  TIERED PRIORITIES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5239512" y="621792"/>
            <a:ext cx="3776472" cy="2286000"/>
          </a:xfrm>
          <a:prstGeom prst="rect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294376" y="685800"/>
            <a:ext cx="1833372" cy="182880"/>
          </a:xfrm>
          <a:prstGeom prst="rect">
            <a:avLst/>
          </a:prstGeom>
          <a:solidFill>
            <a:srgbClr val="1E0808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94376" y="685800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BLOCKERS — DAY 1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5294376" y="914400"/>
            <a:ext cx="1833372" cy="420624"/>
          </a:xfrm>
          <a:prstGeom prst="rect">
            <a:avLst/>
          </a:prstGeom>
          <a:solidFill>
            <a:srgbClr val="120808"/>
          </a:solidFill>
          <a:ln w="12700">
            <a:solidFill>
              <a:srgbClr val="3A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294376" y="914400"/>
            <a:ext cx="36576" cy="420624"/>
          </a:xfrm>
          <a:prstGeom prst="rect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367528" y="932688"/>
            <a:ext cx="17419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/ SEPA / Klarna / BPAY checkout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367528" y="1170432"/>
            <a:ext cx="17419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i="1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 |  2-week sprint</a:t>
            </a:r>
            <a:endParaRPr lang="en-US" sz="580" dirty="0"/>
          </a:p>
        </p:txBody>
      </p:sp>
      <p:sp>
        <p:nvSpPr>
          <p:cNvPr id="20" name="Shape 17"/>
          <p:cNvSpPr/>
          <p:nvPr/>
        </p:nvSpPr>
        <p:spPr>
          <a:xfrm>
            <a:off x="5294376" y="1380744"/>
            <a:ext cx="1833372" cy="420624"/>
          </a:xfrm>
          <a:prstGeom prst="rect">
            <a:avLst/>
          </a:prstGeom>
          <a:solidFill>
            <a:srgbClr val="120808"/>
          </a:solidFill>
          <a:ln w="12700">
            <a:solidFill>
              <a:srgbClr val="3A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294376" y="1380744"/>
            <a:ext cx="36576" cy="420624"/>
          </a:xfrm>
          <a:prstGeom prst="rect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367528" y="1399032"/>
            <a:ext cx="17419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+ AU Privacy Act compliance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5367528" y="1636776"/>
            <a:ext cx="17419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i="1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 |  Day 1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5294376" y="1847088"/>
            <a:ext cx="1833372" cy="420624"/>
          </a:xfrm>
          <a:prstGeom prst="rect">
            <a:avLst/>
          </a:prstGeom>
          <a:solidFill>
            <a:srgbClr val="120808"/>
          </a:solidFill>
          <a:ln w="12700">
            <a:solidFill>
              <a:srgbClr val="3A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294376" y="1847088"/>
            <a:ext cx="36576" cy="420624"/>
          </a:xfrm>
          <a:prstGeom prst="rect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367528" y="1865376"/>
            <a:ext cx="17419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Follow-the-sun CS coverage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5367528" y="2103120"/>
            <a:ext cx="17419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i="1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 |  By Day 20</a:t>
            </a:r>
            <a:endParaRPr lang="en-US" sz="580" dirty="0"/>
          </a:p>
        </p:txBody>
      </p:sp>
      <p:sp>
        <p:nvSpPr>
          <p:cNvPr id="28" name="Shape 25"/>
          <p:cNvSpPr/>
          <p:nvPr/>
        </p:nvSpPr>
        <p:spPr>
          <a:xfrm>
            <a:off x="5294376" y="2313432"/>
            <a:ext cx="1833372" cy="420624"/>
          </a:xfrm>
          <a:prstGeom prst="rect">
            <a:avLst/>
          </a:prstGeom>
          <a:solidFill>
            <a:srgbClr val="120808"/>
          </a:solidFill>
          <a:ln w="12700">
            <a:solidFill>
              <a:srgbClr val="3A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294376" y="2313432"/>
            <a:ext cx="36576" cy="420624"/>
          </a:xfrm>
          <a:prstGeom prst="rect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367528" y="2331720"/>
            <a:ext cx="17419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chargeback handling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367528" y="2569464"/>
            <a:ext cx="17419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i="1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ENG+OPS  |  Pre-launch</a:t>
            </a:r>
            <a:endParaRPr lang="en-US" sz="580" dirty="0"/>
          </a:p>
        </p:txBody>
      </p:sp>
      <p:sp>
        <p:nvSpPr>
          <p:cNvPr id="32" name="Shape 29"/>
          <p:cNvSpPr/>
          <p:nvPr/>
        </p:nvSpPr>
        <p:spPr>
          <a:xfrm>
            <a:off x="7182612" y="685800"/>
            <a:ext cx="1833372" cy="182880"/>
          </a:xfrm>
          <a:prstGeom prst="rect">
            <a:avLst/>
          </a:prstGeom>
          <a:solidFill>
            <a:srgbClr val="071A0E"/>
          </a:solidFill>
          <a:ln w="12700">
            <a:solidFill>
              <a:srgbClr val="2E8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182612" y="685800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D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BY MONTH 3  — BUILD / BUY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7182612" y="914400"/>
            <a:ext cx="1833372" cy="420624"/>
          </a:xfrm>
          <a:prstGeom prst="rect">
            <a:avLst/>
          </a:prstGeom>
          <a:solidFill>
            <a:srgbClr val="07110A"/>
          </a:solidFill>
          <a:ln w="12700">
            <a:solidFill>
              <a:srgbClr val="1A3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182612" y="914400"/>
            <a:ext cx="36576" cy="420624"/>
          </a:xfrm>
          <a:prstGeom prst="rect">
            <a:avLst/>
          </a:prstGeom>
          <a:solidFill>
            <a:srgbClr val="2E8A50"/>
          </a:solidFill>
          <a:ln w="12700">
            <a:solidFill>
              <a:srgbClr val="2E8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255764" y="932688"/>
            <a:ext cx="17419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V2 daily cron refresh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255764" y="1170432"/>
            <a:ext cx="17419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i="1" dirty="0">
                <a:solidFill>
                  <a:srgbClr val="5D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|  ~$5/mo API</a:t>
            </a:r>
            <a:endParaRPr lang="en-US" sz="580" dirty="0"/>
          </a:p>
        </p:txBody>
      </p:sp>
      <p:sp>
        <p:nvSpPr>
          <p:cNvPr id="38" name="Shape 35"/>
          <p:cNvSpPr/>
          <p:nvPr/>
        </p:nvSpPr>
        <p:spPr>
          <a:xfrm>
            <a:off x="7182612" y="1380744"/>
            <a:ext cx="1833372" cy="420624"/>
          </a:xfrm>
          <a:prstGeom prst="rect">
            <a:avLst/>
          </a:prstGeom>
          <a:solidFill>
            <a:srgbClr val="07110A"/>
          </a:solidFill>
          <a:ln w="12700">
            <a:solidFill>
              <a:srgbClr val="1A3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7182612" y="1380744"/>
            <a:ext cx="36576" cy="420624"/>
          </a:xfrm>
          <a:prstGeom prst="rect">
            <a:avLst/>
          </a:prstGeom>
          <a:solidFill>
            <a:srgbClr val="2E8A50"/>
          </a:solidFill>
          <a:ln w="12700">
            <a:solidFill>
              <a:srgbClr val="2E8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255764" y="1399032"/>
            <a:ext cx="17419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NL/DE/EN localization engine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7255764" y="1636776"/>
            <a:ext cx="17419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i="1" dirty="0">
                <a:solidFill>
                  <a:srgbClr val="5D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|  Checkout + portal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182612" y="1847088"/>
            <a:ext cx="1833372" cy="420624"/>
          </a:xfrm>
          <a:prstGeom prst="rect">
            <a:avLst/>
          </a:prstGeom>
          <a:solidFill>
            <a:srgbClr val="07110A"/>
          </a:solidFill>
          <a:ln w="12700">
            <a:solidFill>
              <a:srgbClr val="1A3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7182612" y="1847088"/>
            <a:ext cx="36576" cy="420624"/>
          </a:xfrm>
          <a:prstGeom prst="rect">
            <a:avLst/>
          </a:prstGeom>
          <a:solidFill>
            <a:srgbClr val="2E8A50"/>
          </a:solidFill>
          <a:ln w="12700">
            <a:solidFill>
              <a:srgbClr val="2E8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7255764" y="1865376"/>
            <a:ext cx="17419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self-serve onboarding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7255764" y="2103120"/>
            <a:ext cx="17419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i="1" dirty="0">
                <a:solidFill>
                  <a:srgbClr val="5D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|  820 NL long-tail</a:t>
            </a:r>
            <a:endParaRPr lang="en-US" sz="580" dirty="0"/>
          </a:p>
        </p:txBody>
      </p:sp>
      <p:sp>
        <p:nvSpPr>
          <p:cNvPr id="46" name="Shape 43"/>
          <p:cNvSpPr/>
          <p:nvPr/>
        </p:nvSpPr>
        <p:spPr>
          <a:xfrm>
            <a:off x="7182612" y="2313432"/>
            <a:ext cx="1833372" cy="420624"/>
          </a:xfrm>
          <a:prstGeom prst="rect">
            <a:avLst/>
          </a:prstGeom>
          <a:solidFill>
            <a:srgbClr val="07110A"/>
          </a:solidFill>
          <a:ln w="12700">
            <a:solidFill>
              <a:srgbClr val="1A3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7182612" y="2313432"/>
            <a:ext cx="36576" cy="420624"/>
          </a:xfrm>
          <a:prstGeom prst="rect">
            <a:avLst/>
          </a:prstGeom>
          <a:solidFill>
            <a:srgbClr val="2E8A50"/>
          </a:solidFill>
          <a:ln w="12700">
            <a:solidFill>
              <a:srgbClr val="2E8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255764" y="2331720"/>
            <a:ext cx="17419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GmbH + Country Mgr hire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7255764" y="2569464"/>
            <a:ext cx="17419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i="1" dirty="0">
                <a:solidFill>
                  <a:srgbClr val="5D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OPS+LEGAL  |  By Week 6</a:t>
            </a:r>
            <a:endParaRPr lang="en-US" sz="580" dirty="0"/>
          </a:p>
        </p:txBody>
      </p:sp>
      <p:sp>
        <p:nvSpPr>
          <p:cNvPr id="50" name="Shape 47"/>
          <p:cNvSpPr/>
          <p:nvPr/>
        </p:nvSpPr>
        <p:spPr>
          <a:xfrm>
            <a:off x="5294376" y="2706624"/>
            <a:ext cx="3666744" cy="164592"/>
          </a:xfrm>
          <a:prstGeom prst="rect">
            <a:avLst/>
          </a:prstGeom>
          <a:solidFill>
            <a:srgbClr val="09152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330952" y="2715768"/>
            <a:ext cx="3593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i="1" dirty="0">
                <a:solidFill>
                  <a:srgbClr val="6B8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Hub: Regional Lead Amsterdam (NL+DE)  |  AU contractor -&gt; VP Intl  |  496 T1 targets (297 DE + 83 NL + 116 AU)</a:t>
            </a:r>
            <a:endParaRPr lang="en-US" sz="580" dirty="0"/>
          </a:p>
        </p:txBody>
      </p:sp>
      <p:sp>
        <p:nvSpPr>
          <p:cNvPr id="52" name="Shape 49"/>
          <p:cNvSpPr/>
          <p:nvPr/>
        </p:nvSpPr>
        <p:spPr>
          <a:xfrm>
            <a:off x="128016" y="2962656"/>
            <a:ext cx="45720" cy="155448"/>
          </a:xfrm>
          <a:prstGeom prst="rect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210312" y="2962656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80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CADENCE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2761488" y="2962656"/>
            <a:ext cx="45720" cy="1554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2843784" y="2962656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8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LOOP  |  HOW SIGNALS DRIVE DECISIONS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128016" y="3154680"/>
            <a:ext cx="2468880" cy="1581912"/>
          </a:xfrm>
          <a:prstGeom prst="rect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64592" y="3209544"/>
            <a:ext cx="2395728" cy="331470"/>
          </a:xfrm>
          <a:prstGeom prst="rect">
            <a:avLst/>
          </a:prstGeom>
          <a:solidFill>
            <a:srgbClr val="091422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164592" y="3209544"/>
            <a:ext cx="36576" cy="33147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237744" y="3246120"/>
            <a:ext cx="658368" cy="1737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237744" y="3246120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580" dirty="0"/>
          </a:p>
        </p:txBody>
      </p:sp>
      <p:sp>
        <p:nvSpPr>
          <p:cNvPr id="61" name="Text 58"/>
          <p:cNvSpPr/>
          <p:nvPr/>
        </p:nvSpPr>
        <p:spPr>
          <a:xfrm>
            <a:off x="950976" y="3227832"/>
            <a:ext cx="1581912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T1 pipeline by market  |  BuyButton hit rate  |  BD conversion funnel</a:t>
            </a:r>
            <a:endParaRPr lang="en-US" sz="630" dirty="0"/>
          </a:p>
        </p:txBody>
      </p:sp>
      <p:sp>
        <p:nvSpPr>
          <p:cNvPr id="62" name="Shape 59"/>
          <p:cNvSpPr/>
          <p:nvPr/>
        </p:nvSpPr>
        <p:spPr>
          <a:xfrm>
            <a:off x="164592" y="3577590"/>
            <a:ext cx="2395728" cy="331470"/>
          </a:xfrm>
          <a:prstGeom prst="rect">
            <a:avLst/>
          </a:prstGeom>
          <a:solidFill>
            <a:srgbClr val="091422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164592" y="3577590"/>
            <a:ext cx="36576" cy="331470"/>
          </a:xfrm>
          <a:prstGeom prst="rect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237744" y="3614166"/>
            <a:ext cx="658368" cy="173736"/>
          </a:xfrm>
          <a:prstGeom prst="rect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237744" y="3614166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580" dirty="0"/>
          </a:p>
        </p:txBody>
      </p:sp>
      <p:sp>
        <p:nvSpPr>
          <p:cNvPr id="66" name="Text 63"/>
          <p:cNvSpPr/>
          <p:nvPr/>
        </p:nvSpPr>
        <p:spPr>
          <a:xfrm>
            <a:off x="950976" y="3595878"/>
            <a:ext cx="1581912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churn (NL/DE/AU)  |  Payment failure rate  |  Opp. Score delta vs. prior month</a:t>
            </a:r>
            <a:endParaRPr lang="en-US" sz="630" dirty="0"/>
          </a:p>
        </p:txBody>
      </p:sp>
      <p:sp>
        <p:nvSpPr>
          <p:cNvPr id="67" name="Shape 64"/>
          <p:cNvSpPr/>
          <p:nvPr/>
        </p:nvSpPr>
        <p:spPr>
          <a:xfrm>
            <a:off x="164592" y="3945636"/>
            <a:ext cx="2395728" cy="331470"/>
          </a:xfrm>
          <a:prstGeom prst="rect">
            <a:avLst/>
          </a:prstGeom>
          <a:solidFill>
            <a:srgbClr val="091422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164592" y="3945636"/>
            <a:ext cx="36576" cy="33147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237744" y="3982212"/>
            <a:ext cx="658368" cy="17373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237744" y="3982212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580" dirty="0"/>
          </a:p>
        </p:txBody>
      </p:sp>
      <p:sp>
        <p:nvSpPr>
          <p:cNvPr id="71" name="Text 68"/>
          <p:cNvSpPr/>
          <p:nvPr/>
        </p:nvSpPr>
        <p:spPr>
          <a:xfrm>
            <a:off x="950976" y="3963924"/>
            <a:ext cx="1581912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OKR: venues signed vs. 90-day target  |  Market gate go/no-go decision</a:t>
            </a:r>
            <a:endParaRPr lang="en-US" sz="630" dirty="0"/>
          </a:p>
        </p:txBody>
      </p:sp>
      <p:sp>
        <p:nvSpPr>
          <p:cNvPr id="72" name="Shape 69"/>
          <p:cNvSpPr/>
          <p:nvPr/>
        </p:nvSpPr>
        <p:spPr>
          <a:xfrm>
            <a:off x="164592" y="4313682"/>
            <a:ext cx="2395728" cy="331470"/>
          </a:xfrm>
          <a:prstGeom prst="rect">
            <a:avLst/>
          </a:prstGeom>
          <a:solidFill>
            <a:srgbClr val="091422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164592" y="4313682"/>
            <a:ext cx="36576" cy="331470"/>
          </a:xfrm>
          <a:prstGeom prst="rect">
            <a:avLst/>
          </a:prstGeom>
          <a:solidFill>
            <a:srgbClr val="38BEFF"/>
          </a:solidFill>
          <a:ln w="12700">
            <a:solidFill>
              <a:srgbClr val="38B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237744" y="4350258"/>
            <a:ext cx="658368" cy="173736"/>
          </a:xfrm>
          <a:prstGeom prst="rect">
            <a:avLst/>
          </a:prstGeom>
          <a:solidFill>
            <a:srgbClr val="38BEFF"/>
          </a:solidFill>
          <a:ln w="12700">
            <a:solidFill>
              <a:srgbClr val="38B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237744" y="4350258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580" dirty="0"/>
          </a:p>
        </p:txBody>
      </p:sp>
      <p:sp>
        <p:nvSpPr>
          <p:cNvPr id="76" name="Text 73"/>
          <p:cNvSpPr/>
          <p:nvPr/>
        </p:nvSpPr>
        <p:spPr>
          <a:xfrm>
            <a:off x="950976" y="4331970"/>
            <a:ext cx="1581912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market decision: Japan #4 (76.0) or Spain #5 (73.9)?  Org design reset</a:t>
            </a:r>
            <a:endParaRPr lang="en-US" sz="630" dirty="0"/>
          </a:p>
        </p:txBody>
      </p:sp>
      <p:sp>
        <p:nvSpPr>
          <p:cNvPr id="77" name="Shape 74"/>
          <p:cNvSpPr/>
          <p:nvPr/>
        </p:nvSpPr>
        <p:spPr>
          <a:xfrm>
            <a:off x="2724912" y="3154680"/>
            <a:ext cx="6291072" cy="1581912"/>
          </a:xfrm>
          <a:prstGeom prst="rect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2816352" y="3246120"/>
            <a:ext cx="1348740" cy="1197864"/>
          </a:xfrm>
          <a:prstGeom prst="rect">
            <a:avLst/>
          </a:prstGeom>
          <a:solidFill>
            <a:srgbClr val="071A15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2816352" y="3246120"/>
            <a:ext cx="1348740" cy="2103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2852928" y="3246120"/>
            <a:ext cx="12755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DATA IN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2852928" y="3493008"/>
            <a:ext cx="1275588" cy="146304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2852928" y="3493008"/>
            <a:ext cx="12755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580" dirty="0"/>
          </a:p>
        </p:txBody>
      </p:sp>
      <p:sp>
        <p:nvSpPr>
          <p:cNvPr id="83" name="Shape 80"/>
          <p:cNvSpPr/>
          <p:nvPr/>
        </p:nvSpPr>
        <p:spPr>
          <a:xfrm>
            <a:off x="2880360" y="3706749"/>
            <a:ext cx="64008" cy="64008"/>
          </a:xfrm>
          <a:prstGeom prst="ellipse">
            <a:avLst/>
          </a:prstGeom>
          <a:solidFill>
            <a:srgbClr val="00C896">
              <a:alpha val="7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2971800" y="3675888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alerts + daily refresh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2880360" y="3841623"/>
            <a:ext cx="64008" cy="64008"/>
          </a:xfrm>
          <a:prstGeom prst="ellipse">
            <a:avLst/>
          </a:prstGeom>
          <a:solidFill>
            <a:srgbClr val="00C896">
              <a:alpha val="7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2971800" y="3810762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BuyButton ground truth</a:t>
            </a:r>
            <a:endParaRPr lang="en-US" sz="620" dirty="0"/>
          </a:p>
        </p:txBody>
      </p:sp>
      <p:sp>
        <p:nvSpPr>
          <p:cNvPr id="87" name="Shape 84"/>
          <p:cNvSpPr/>
          <p:nvPr/>
        </p:nvSpPr>
        <p:spPr>
          <a:xfrm>
            <a:off x="2880360" y="3976497"/>
            <a:ext cx="64008" cy="64008"/>
          </a:xfrm>
          <a:prstGeom prst="ellipse">
            <a:avLst/>
          </a:prstGeom>
          <a:solidFill>
            <a:srgbClr val="00C896">
              <a:alpha val="7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2971800" y="3945636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field notes + BD calls</a:t>
            </a:r>
            <a:endParaRPr lang="en-US" sz="620" dirty="0"/>
          </a:p>
        </p:txBody>
      </p:sp>
      <p:sp>
        <p:nvSpPr>
          <p:cNvPr id="89" name="Shape 86"/>
          <p:cNvSpPr/>
          <p:nvPr/>
        </p:nvSpPr>
        <p:spPr>
          <a:xfrm>
            <a:off x="2880360" y="4111371"/>
            <a:ext cx="64008" cy="64008"/>
          </a:xfrm>
          <a:prstGeom prst="ellipse">
            <a:avLst/>
          </a:prstGeom>
          <a:solidFill>
            <a:srgbClr val="00C896">
              <a:alpha val="7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2971800" y="4080510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support queue signals</a:t>
            </a:r>
            <a:endParaRPr lang="en-US" sz="620" dirty="0"/>
          </a:p>
        </p:txBody>
      </p:sp>
      <p:sp>
        <p:nvSpPr>
          <p:cNvPr id="91" name="Shape 88"/>
          <p:cNvSpPr/>
          <p:nvPr/>
        </p:nvSpPr>
        <p:spPr>
          <a:xfrm>
            <a:off x="2871216" y="4224528"/>
            <a:ext cx="1239012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9"/>
          <p:cNvSpPr/>
          <p:nvPr/>
        </p:nvSpPr>
        <p:spPr>
          <a:xfrm>
            <a:off x="2852928" y="4242816"/>
            <a:ext cx="12755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Data + Sales</a:t>
            </a:r>
            <a:endParaRPr lang="en-US" sz="620" dirty="0"/>
          </a:p>
        </p:txBody>
      </p:sp>
      <p:sp>
        <p:nvSpPr>
          <p:cNvPr id="93" name="Shape 90"/>
          <p:cNvSpPr/>
          <p:nvPr/>
        </p:nvSpPr>
        <p:spPr>
          <a:xfrm>
            <a:off x="4183380" y="3799332"/>
            <a:ext cx="128016" cy="27432"/>
          </a:xfrm>
          <a:prstGeom prst="rect">
            <a:avLst/>
          </a:prstGeom>
          <a:solidFill>
            <a:srgbClr val="6B8BAE"/>
          </a:solidFill>
          <a:ln w="12700">
            <a:solidFill>
              <a:srgbClr val="6B8B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4256532" y="3677961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8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95" name="Shape 92"/>
          <p:cNvSpPr/>
          <p:nvPr/>
        </p:nvSpPr>
        <p:spPr>
          <a:xfrm>
            <a:off x="4402836" y="3246120"/>
            <a:ext cx="1348740" cy="1197864"/>
          </a:xfrm>
          <a:prstGeom prst="rect">
            <a:avLst/>
          </a:prstGeom>
          <a:solidFill>
            <a:srgbClr val="0F0D1E"/>
          </a:solidFill>
          <a:ln w="12700">
            <a:solidFill>
              <a:srgbClr val="8B7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3"/>
          <p:cNvSpPr/>
          <p:nvPr/>
        </p:nvSpPr>
        <p:spPr>
          <a:xfrm>
            <a:off x="4402836" y="3246120"/>
            <a:ext cx="1348740" cy="210312"/>
          </a:xfrm>
          <a:prstGeom prst="rect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4"/>
          <p:cNvSpPr/>
          <p:nvPr/>
        </p:nvSpPr>
        <p:spPr>
          <a:xfrm>
            <a:off x="4439412" y="3246120"/>
            <a:ext cx="12755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</a:t>
            </a:r>
            <a:endParaRPr lang="en-US" sz="700" dirty="0"/>
          </a:p>
        </p:txBody>
      </p:sp>
      <p:sp>
        <p:nvSpPr>
          <p:cNvPr id="98" name="Shape 95"/>
          <p:cNvSpPr/>
          <p:nvPr/>
        </p:nvSpPr>
        <p:spPr>
          <a:xfrm>
            <a:off x="4439412" y="3493008"/>
            <a:ext cx="1275588" cy="146304"/>
          </a:xfrm>
          <a:prstGeom prst="rect">
            <a:avLst/>
          </a:prstGeom>
          <a:solidFill>
            <a:srgbClr val="8B7CF6">
              <a:alpha val="20000"/>
            </a:srgbClr>
          </a:solidFill>
          <a:ln w="12700">
            <a:solidFill>
              <a:srgbClr val="8B7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6"/>
          <p:cNvSpPr/>
          <p:nvPr/>
        </p:nvSpPr>
        <p:spPr>
          <a:xfrm>
            <a:off x="4439412" y="3493008"/>
            <a:ext cx="12755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</a:t>
            </a:r>
            <a:endParaRPr lang="en-US" sz="580" dirty="0"/>
          </a:p>
        </p:txBody>
      </p:sp>
      <p:sp>
        <p:nvSpPr>
          <p:cNvPr id="100" name="Shape 97"/>
          <p:cNvSpPr/>
          <p:nvPr/>
        </p:nvSpPr>
        <p:spPr>
          <a:xfrm>
            <a:off x="4466844" y="3706749"/>
            <a:ext cx="64008" cy="64008"/>
          </a:xfrm>
          <a:prstGeom prst="ellipse">
            <a:avLst/>
          </a:prstGeom>
          <a:solidFill>
            <a:srgbClr val="8B7CF6">
              <a:alpha val="75000"/>
            </a:srgbClr>
          </a:solidFill>
          <a:ln w="12700">
            <a:solidFill>
              <a:srgbClr val="8B7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8"/>
          <p:cNvSpPr/>
          <p:nvPr/>
        </p:nvSpPr>
        <p:spPr>
          <a:xfrm>
            <a:off x="4558284" y="3675888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pipeline vs. target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4466844" y="3841623"/>
            <a:ext cx="64008" cy="64008"/>
          </a:xfrm>
          <a:prstGeom prst="ellipse">
            <a:avLst/>
          </a:prstGeom>
          <a:solidFill>
            <a:srgbClr val="8B7CF6">
              <a:alpha val="75000"/>
            </a:srgbClr>
          </a:solidFill>
          <a:ln w="12700">
            <a:solidFill>
              <a:srgbClr val="8B7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0"/>
          <p:cNvSpPr/>
          <p:nvPr/>
        </p:nvSpPr>
        <p:spPr>
          <a:xfrm>
            <a:off x="4558284" y="3810762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BuyButton hit rate by mkt</a:t>
            </a:r>
            <a:endParaRPr lang="en-US" sz="620" dirty="0"/>
          </a:p>
        </p:txBody>
      </p:sp>
      <p:sp>
        <p:nvSpPr>
          <p:cNvPr id="104" name="Shape 101"/>
          <p:cNvSpPr/>
          <p:nvPr/>
        </p:nvSpPr>
        <p:spPr>
          <a:xfrm>
            <a:off x="4466844" y="3976497"/>
            <a:ext cx="64008" cy="64008"/>
          </a:xfrm>
          <a:prstGeom prst="ellipse">
            <a:avLst/>
          </a:prstGeom>
          <a:solidFill>
            <a:srgbClr val="8B7CF6">
              <a:alpha val="75000"/>
            </a:srgbClr>
          </a:solidFill>
          <a:ln w="12700">
            <a:solidFill>
              <a:srgbClr val="8B7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2"/>
          <p:cNvSpPr/>
          <p:nvPr/>
        </p:nvSpPr>
        <p:spPr>
          <a:xfrm>
            <a:off x="4558284" y="3945636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conversion funnel</a:t>
            </a:r>
            <a:endParaRPr lang="en-US" sz="620" dirty="0"/>
          </a:p>
        </p:txBody>
      </p:sp>
      <p:sp>
        <p:nvSpPr>
          <p:cNvPr id="106" name="Shape 103"/>
          <p:cNvSpPr/>
          <p:nvPr/>
        </p:nvSpPr>
        <p:spPr>
          <a:xfrm>
            <a:off x="4466844" y="4111371"/>
            <a:ext cx="64008" cy="64008"/>
          </a:xfrm>
          <a:prstGeom prst="ellipse">
            <a:avLst/>
          </a:prstGeom>
          <a:solidFill>
            <a:srgbClr val="8B7CF6">
              <a:alpha val="75000"/>
            </a:srgbClr>
          </a:solidFill>
          <a:ln w="12700">
            <a:solidFill>
              <a:srgbClr val="8B7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4"/>
          <p:cNvSpPr/>
          <p:nvPr/>
        </p:nvSpPr>
        <p:spPr>
          <a:xfrm>
            <a:off x="4558284" y="4080510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Rep-flagged blockers</a:t>
            </a:r>
            <a:endParaRPr lang="en-US" sz="620" dirty="0"/>
          </a:p>
        </p:txBody>
      </p:sp>
      <p:sp>
        <p:nvSpPr>
          <p:cNvPr id="108" name="Shape 105"/>
          <p:cNvSpPr/>
          <p:nvPr/>
        </p:nvSpPr>
        <p:spPr>
          <a:xfrm>
            <a:off x="4457700" y="4224528"/>
            <a:ext cx="1239012" cy="0"/>
          </a:xfrm>
          <a:prstGeom prst="line">
            <a:avLst/>
          </a:prstGeom>
          <a:noFill/>
          <a:ln w="12700">
            <a:solidFill>
              <a:srgbClr val="8B7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6"/>
          <p:cNvSpPr/>
          <p:nvPr/>
        </p:nvSpPr>
        <p:spPr>
          <a:xfrm>
            <a:off x="4439412" y="4242816"/>
            <a:ext cx="12755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VP Intl + BDR Lead</a:t>
            </a:r>
            <a:endParaRPr lang="en-US" sz="620" dirty="0"/>
          </a:p>
        </p:txBody>
      </p:sp>
      <p:sp>
        <p:nvSpPr>
          <p:cNvPr id="110" name="Shape 107"/>
          <p:cNvSpPr/>
          <p:nvPr/>
        </p:nvSpPr>
        <p:spPr>
          <a:xfrm>
            <a:off x="5769864" y="3799332"/>
            <a:ext cx="128016" cy="27432"/>
          </a:xfrm>
          <a:prstGeom prst="rect">
            <a:avLst/>
          </a:prstGeom>
          <a:solidFill>
            <a:srgbClr val="6B8BAE"/>
          </a:solidFill>
          <a:ln w="12700">
            <a:solidFill>
              <a:srgbClr val="6B8B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8"/>
          <p:cNvSpPr/>
          <p:nvPr/>
        </p:nvSpPr>
        <p:spPr>
          <a:xfrm>
            <a:off x="5843016" y="3677961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8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12" name="Shape 109"/>
          <p:cNvSpPr/>
          <p:nvPr/>
        </p:nvSpPr>
        <p:spPr>
          <a:xfrm>
            <a:off x="5989320" y="3246120"/>
            <a:ext cx="1348740" cy="1197864"/>
          </a:xfrm>
          <a:prstGeom prst="rect">
            <a:avLst/>
          </a:prstGeom>
          <a:solidFill>
            <a:srgbClr val="1A0E07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0"/>
          <p:cNvSpPr/>
          <p:nvPr/>
        </p:nvSpPr>
        <p:spPr>
          <a:xfrm>
            <a:off x="5989320" y="3246120"/>
            <a:ext cx="1348740" cy="2103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1"/>
          <p:cNvSpPr/>
          <p:nvPr/>
        </p:nvSpPr>
        <p:spPr>
          <a:xfrm>
            <a:off x="6025896" y="3246120"/>
            <a:ext cx="12755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GATE</a:t>
            </a:r>
            <a:endParaRPr lang="en-US" sz="700" dirty="0"/>
          </a:p>
        </p:txBody>
      </p:sp>
      <p:sp>
        <p:nvSpPr>
          <p:cNvPr id="115" name="Shape 112"/>
          <p:cNvSpPr/>
          <p:nvPr/>
        </p:nvSpPr>
        <p:spPr>
          <a:xfrm>
            <a:off x="6025896" y="3493008"/>
            <a:ext cx="1275588" cy="146304"/>
          </a:xfrm>
          <a:prstGeom prst="rect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3"/>
          <p:cNvSpPr/>
          <p:nvPr/>
        </p:nvSpPr>
        <p:spPr>
          <a:xfrm>
            <a:off x="6025896" y="3493008"/>
            <a:ext cx="12755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of month</a:t>
            </a:r>
            <a:endParaRPr lang="en-US" sz="580" dirty="0"/>
          </a:p>
        </p:txBody>
      </p:sp>
      <p:sp>
        <p:nvSpPr>
          <p:cNvPr id="117" name="Shape 114"/>
          <p:cNvSpPr/>
          <p:nvPr/>
        </p:nvSpPr>
        <p:spPr>
          <a:xfrm>
            <a:off x="6053328" y="3706749"/>
            <a:ext cx="64008" cy="64008"/>
          </a:xfrm>
          <a:prstGeom prst="ellipse">
            <a:avLst/>
          </a:prstGeom>
          <a:solidFill>
            <a:srgbClr val="FF6B35">
              <a:alpha val="7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5"/>
          <p:cNvSpPr/>
          <p:nvPr/>
        </p:nvSpPr>
        <p:spPr>
          <a:xfrm>
            <a:off x="6144768" y="3675888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Opp. Score trend (+-5pts)</a:t>
            </a:r>
            <a:endParaRPr lang="en-US" sz="620" dirty="0"/>
          </a:p>
        </p:txBody>
      </p:sp>
      <p:sp>
        <p:nvSpPr>
          <p:cNvPr id="119" name="Shape 116"/>
          <p:cNvSpPr/>
          <p:nvPr/>
        </p:nvSpPr>
        <p:spPr>
          <a:xfrm>
            <a:off x="6053328" y="3841623"/>
            <a:ext cx="64008" cy="64008"/>
          </a:xfrm>
          <a:prstGeom prst="ellipse">
            <a:avLst/>
          </a:prstGeom>
          <a:solidFill>
            <a:srgbClr val="FF6B35">
              <a:alpha val="7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7"/>
          <p:cNvSpPr/>
          <p:nvPr/>
        </p:nvSpPr>
        <p:spPr>
          <a:xfrm>
            <a:off x="6144768" y="3810762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 rate &gt;3%</a:t>
            </a:r>
            <a:endParaRPr lang="en-US" sz="620" dirty="0"/>
          </a:p>
        </p:txBody>
      </p:sp>
      <p:sp>
        <p:nvSpPr>
          <p:cNvPr id="121" name="Shape 118"/>
          <p:cNvSpPr/>
          <p:nvPr/>
        </p:nvSpPr>
        <p:spPr>
          <a:xfrm>
            <a:off x="6053328" y="3976497"/>
            <a:ext cx="64008" cy="64008"/>
          </a:xfrm>
          <a:prstGeom prst="ellipse">
            <a:avLst/>
          </a:prstGeom>
          <a:solidFill>
            <a:srgbClr val="FF6B35">
              <a:alpha val="7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19"/>
          <p:cNvSpPr/>
          <p:nvPr/>
        </p:nvSpPr>
        <p:spPr>
          <a:xfrm>
            <a:off x="6144768" y="3945636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surge &gt;2x baseline</a:t>
            </a:r>
            <a:endParaRPr lang="en-US" sz="620" dirty="0"/>
          </a:p>
        </p:txBody>
      </p:sp>
      <p:sp>
        <p:nvSpPr>
          <p:cNvPr id="123" name="Shape 120"/>
          <p:cNvSpPr/>
          <p:nvPr/>
        </p:nvSpPr>
        <p:spPr>
          <a:xfrm>
            <a:off x="6053328" y="4111371"/>
            <a:ext cx="64008" cy="64008"/>
          </a:xfrm>
          <a:prstGeom prst="ellipse">
            <a:avLst/>
          </a:prstGeom>
          <a:solidFill>
            <a:srgbClr val="FF6B35">
              <a:alpha val="7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1"/>
          <p:cNvSpPr/>
          <p:nvPr/>
        </p:nvSpPr>
        <p:spPr>
          <a:xfrm>
            <a:off x="6144768" y="4080510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churn or re-sign risk</a:t>
            </a:r>
            <a:endParaRPr lang="en-US" sz="620" dirty="0"/>
          </a:p>
        </p:txBody>
      </p:sp>
      <p:sp>
        <p:nvSpPr>
          <p:cNvPr id="125" name="Shape 122"/>
          <p:cNvSpPr/>
          <p:nvPr/>
        </p:nvSpPr>
        <p:spPr>
          <a:xfrm>
            <a:off x="6044184" y="4224528"/>
            <a:ext cx="1239012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3"/>
          <p:cNvSpPr/>
          <p:nvPr/>
        </p:nvSpPr>
        <p:spPr>
          <a:xfrm>
            <a:off x="6025896" y="4242816"/>
            <a:ext cx="12755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CS + Ops + Data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7356348" y="3799332"/>
            <a:ext cx="128016" cy="27432"/>
          </a:xfrm>
          <a:prstGeom prst="rect">
            <a:avLst/>
          </a:prstGeom>
          <a:solidFill>
            <a:srgbClr val="6B8BAE"/>
          </a:solidFill>
          <a:ln w="12700">
            <a:solidFill>
              <a:srgbClr val="6B8B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5"/>
          <p:cNvSpPr/>
          <p:nvPr/>
        </p:nvSpPr>
        <p:spPr>
          <a:xfrm>
            <a:off x="7429500" y="3677961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8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29" name="Shape 126"/>
          <p:cNvSpPr/>
          <p:nvPr/>
        </p:nvSpPr>
        <p:spPr>
          <a:xfrm>
            <a:off x="7575804" y="3246120"/>
            <a:ext cx="1348740" cy="1197864"/>
          </a:xfrm>
          <a:prstGeom prst="rect">
            <a:avLst/>
          </a:prstGeom>
          <a:solidFill>
            <a:srgbClr val="071320"/>
          </a:solidFill>
          <a:ln w="12700">
            <a:solidFill>
              <a:srgbClr val="38B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7"/>
          <p:cNvSpPr/>
          <p:nvPr/>
        </p:nvSpPr>
        <p:spPr>
          <a:xfrm>
            <a:off x="7575804" y="3246120"/>
            <a:ext cx="1348740" cy="210312"/>
          </a:xfrm>
          <a:prstGeom prst="rect">
            <a:avLst/>
          </a:prstGeom>
          <a:solidFill>
            <a:srgbClr val="38BEFF"/>
          </a:solidFill>
          <a:ln w="12700">
            <a:solidFill>
              <a:srgbClr val="38B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8"/>
          <p:cNvSpPr/>
          <p:nvPr/>
        </p:nvSpPr>
        <p:spPr>
          <a:xfrm>
            <a:off x="7612380" y="3246120"/>
            <a:ext cx="12755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ADJUST</a:t>
            </a:r>
            <a:endParaRPr lang="en-US" sz="700" dirty="0"/>
          </a:p>
        </p:txBody>
      </p:sp>
      <p:sp>
        <p:nvSpPr>
          <p:cNvPr id="132" name="Shape 129"/>
          <p:cNvSpPr/>
          <p:nvPr/>
        </p:nvSpPr>
        <p:spPr>
          <a:xfrm>
            <a:off x="7612380" y="3493008"/>
            <a:ext cx="1275588" cy="146304"/>
          </a:xfrm>
          <a:prstGeom prst="rect">
            <a:avLst/>
          </a:prstGeom>
          <a:solidFill>
            <a:srgbClr val="38BEFF">
              <a:alpha val="20000"/>
            </a:srgbClr>
          </a:solidFill>
          <a:ln w="12700">
            <a:solidFill>
              <a:srgbClr val="38B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0"/>
          <p:cNvSpPr/>
          <p:nvPr/>
        </p:nvSpPr>
        <p:spPr>
          <a:xfrm>
            <a:off x="7612380" y="3493008"/>
            <a:ext cx="12755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38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output</a:t>
            </a:r>
            <a:endParaRPr lang="en-US" sz="580" dirty="0"/>
          </a:p>
        </p:txBody>
      </p:sp>
      <p:sp>
        <p:nvSpPr>
          <p:cNvPr id="134" name="Shape 131"/>
          <p:cNvSpPr/>
          <p:nvPr/>
        </p:nvSpPr>
        <p:spPr>
          <a:xfrm>
            <a:off x="7639812" y="3706749"/>
            <a:ext cx="64008" cy="64008"/>
          </a:xfrm>
          <a:prstGeom prst="ellipse">
            <a:avLst/>
          </a:prstGeom>
          <a:solidFill>
            <a:srgbClr val="38BEFF">
              <a:alpha val="75000"/>
            </a:srgbClr>
          </a:solidFill>
          <a:ln w="12700">
            <a:solidFill>
              <a:srgbClr val="38B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2"/>
          <p:cNvSpPr/>
          <p:nvPr/>
        </p:nvSpPr>
        <p:spPr>
          <a:xfrm>
            <a:off x="7731252" y="3675888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/ accelerate market</a:t>
            </a:r>
            <a:endParaRPr lang="en-US" sz="620" dirty="0"/>
          </a:p>
        </p:txBody>
      </p:sp>
      <p:sp>
        <p:nvSpPr>
          <p:cNvPr id="136" name="Shape 133"/>
          <p:cNvSpPr/>
          <p:nvPr/>
        </p:nvSpPr>
        <p:spPr>
          <a:xfrm>
            <a:off x="7639812" y="3841623"/>
            <a:ext cx="64008" cy="64008"/>
          </a:xfrm>
          <a:prstGeom prst="ellipse">
            <a:avLst/>
          </a:prstGeom>
          <a:solidFill>
            <a:srgbClr val="38BEFF">
              <a:alpha val="75000"/>
            </a:srgbClr>
          </a:solidFill>
          <a:ln w="12700">
            <a:solidFill>
              <a:srgbClr val="38B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4"/>
          <p:cNvSpPr/>
          <p:nvPr/>
        </p:nvSpPr>
        <p:spPr>
          <a:xfrm>
            <a:off x="7731252" y="3810762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SCOUT model</a:t>
            </a:r>
            <a:endParaRPr lang="en-US" sz="620" dirty="0"/>
          </a:p>
        </p:txBody>
      </p:sp>
      <p:sp>
        <p:nvSpPr>
          <p:cNvPr id="138" name="Shape 135"/>
          <p:cNvSpPr/>
          <p:nvPr/>
        </p:nvSpPr>
        <p:spPr>
          <a:xfrm>
            <a:off x="7639812" y="3976497"/>
            <a:ext cx="64008" cy="64008"/>
          </a:xfrm>
          <a:prstGeom prst="ellipse">
            <a:avLst/>
          </a:prstGeom>
          <a:solidFill>
            <a:srgbClr val="38BEFF">
              <a:alpha val="75000"/>
            </a:srgbClr>
          </a:solidFill>
          <a:ln w="12700">
            <a:solidFill>
              <a:srgbClr val="38B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6"/>
          <p:cNvSpPr/>
          <p:nvPr/>
        </p:nvSpPr>
        <p:spPr>
          <a:xfrm>
            <a:off x="7731252" y="3945636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BD headcount</a:t>
            </a:r>
            <a:endParaRPr lang="en-US" sz="620" dirty="0"/>
          </a:p>
        </p:txBody>
      </p:sp>
      <p:sp>
        <p:nvSpPr>
          <p:cNvPr id="140" name="Shape 137"/>
          <p:cNvSpPr/>
          <p:nvPr/>
        </p:nvSpPr>
        <p:spPr>
          <a:xfrm>
            <a:off x="7639812" y="4111371"/>
            <a:ext cx="64008" cy="64008"/>
          </a:xfrm>
          <a:prstGeom prst="ellipse">
            <a:avLst/>
          </a:prstGeom>
          <a:solidFill>
            <a:srgbClr val="38BEFF">
              <a:alpha val="75000"/>
            </a:srgbClr>
          </a:solidFill>
          <a:ln w="12700">
            <a:solidFill>
              <a:srgbClr val="38B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8"/>
          <p:cNvSpPr/>
          <p:nvPr/>
        </p:nvSpPr>
        <p:spPr>
          <a:xfrm>
            <a:off x="7731252" y="4080510"/>
            <a:ext cx="1156716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escalation if needed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7630668" y="4224528"/>
            <a:ext cx="1239012" cy="0"/>
          </a:xfrm>
          <a:prstGeom prst="line">
            <a:avLst/>
          </a:prstGeom>
          <a:noFill/>
          <a:ln w="12700">
            <a:solidFill>
              <a:srgbClr val="38B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0"/>
          <p:cNvSpPr/>
          <p:nvPr/>
        </p:nvSpPr>
        <p:spPr>
          <a:xfrm>
            <a:off x="7612380" y="4242816"/>
            <a:ext cx="12755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8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VP Intl + Board</a:t>
            </a:r>
            <a:endParaRPr lang="en-US" sz="620" dirty="0"/>
          </a:p>
        </p:txBody>
      </p:sp>
      <p:sp>
        <p:nvSpPr>
          <p:cNvPr id="144" name="Shape 141"/>
          <p:cNvSpPr/>
          <p:nvPr/>
        </p:nvSpPr>
        <p:spPr>
          <a:xfrm>
            <a:off x="2871216" y="4480560"/>
            <a:ext cx="0" cy="73152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2"/>
          <p:cNvSpPr/>
          <p:nvPr/>
        </p:nvSpPr>
        <p:spPr>
          <a:xfrm>
            <a:off x="2871216" y="4553712"/>
            <a:ext cx="5998464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3"/>
          <p:cNvSpPr/>
          <p:nvPr/>
        </p:nvSpPr>
        <p:spPr>
          <a:xfrm>
            <a:off x="8869680" y="4480560"/>
            <a:ext cx="0" cy="73152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4"/>
          <p:cNvSpPr/>
          <p:nvPr/>
        </p:nvSpPr>
        <p:spPr>
          <a:xfrm>
            <a:off x="3154680" y="4480619"/>
            <a:ext cx="128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2993683" y="4611448"/>
            <a:ext cx="5797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 |  Execution updates re-score SCOUT model and adjusts field priorities</a:t>
            </a:r>
            <a:endParaRPr lang="en-US" sz="600" dirty="0"/>
          </a:p>
        </p:txBody>
      </p:sp>
      <p:sp>
        <p:nvSpPr>
          <p:cNvPr id="149" name="Shape 146"/>
          <p:cNvSpPr/>
          <p:nvPr/>
        </p:nvSpPr>
        <p:spPr>
          <a:xfrm>
            <a:off x="128016" y="4764024"/>
            <a:ext cx="8887968" cy="146304"/>
          </a:xfrm>
          <a:prstGeom prst="rect">
            <a:avLst/>
          </a:prstGeom>
          <a:solidFill>
            <a:srgbClr val="0F0A04"/>
          </a:solidFill>
          <a:ln w="12700">
            <a:solidFill>
              <a:srgbClr val="4A2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7"/>
          <p:cNvSpPr/>
          <p:nvPr/>
        </p:nvSpPr>
        <p:spPr>
          <a:xfrm>
            <a:off x="128016" y="4764024"/>
            <a:ext cx="36576" cy="14630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8"/>
          <p:cNvSpPr/>
          <p:nvPr/>
        </p:nvSpPr>
        <p:spPr>
          <a:xfrm>
            <a:off x="201168" y="4764024"/>
            <a:ext cx="8759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TRIGGERS: BD pipeline miss &gt;20%  |  Payment failure &gt;3%  |  CS surge &gt;2x baseline  |  Venue re-sign at risk (Crown Perth)  |  Opp. Score drop &gt;5pts  -&gt;  VP Intl + Board</a:t>
            </a:r>
            <a:endParaRPr lang="en-US" sz="600" dirty="0"/>
          </a:p>
        </p:txBody>
      </p:sp>
      <p:sp>
        <p:nvSpPr>
          <p:cNvPr id="152" name="Shape 14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827"/>
          </a:solidFill>
          <a:ln w="12700">
            <a:solidFill>
              <a:srgbClr val="0A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8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TIXR SCOUT  |  18,311 VENUES  |  98 MARKETS  |  TOP 3: NETHERLANDS (80.8) -&gt; GERMANY (78.5) -&gt; AUSTRALIA (77.2)  |  3,404 ACTIONABLE TARGETS (T1+T2)</a:t>
            </a:r>
            <a:endParaRPr lang="en-US" sz="600" dirty="0"/>
          </a:p>
        </p:txBody>
      </p:sp>
      <p:sp>
        <p:nvSpPr>
          <p:cNvPr id="154" name="Text 144">
            <a:extLst>
              <a:ext uri="{FF2B5EF4-FFF2-40B4-BE49-F238E27FC236}">
                <a16:creationId xmlns:a16="http://schemas.microsoft.com/office/drawing/2014/main" id="{AF34E8A4-7E4D-A770-7489-F23622856939}"/>
              </a:ext>
            </a:extLst>
          </p:cNvPr>
          <p:cNvSpPr/>
          <p:nvPr/>
        </p:nvSpPr>
        <p:spPr>
          <a:xfrm>
            <a:off x="7632036" y="4476604"/>
            <a:ext cx="128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538</Words>
  <Application>Microsoft Macintosh PowerPoint</Application>
  <PresentationFormat>On-screen Show (16:9)</PresentationFormat>
  <Paragraphs>113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Sidhu, Mehakjot Singh</cp:lastModifiedBy>
  <cp:revision>2</cp:revision>
  <dcterms:created xsi:type="dcterms:W3CDTF">2026-03-25T06:05:33Z</dcterms:created>
  <dcterms:modified xsi:type="dcterms:W3CDTF">2026-03-25T06:11:42Z</dcterms:modified>
</cp:coreProperties>
</file>